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05c322ec8e4b7b" /><Relationship Type="http://schemas.openxmlformats.org/officeDocument/2006/relationships/extended-properties" Target="/docProps/app.xml" Id="R782b9867d84f4eec" /><Relationship Type="http://schemas.openxmlformats.org/officeDocument/2006/relationships/officeDocument" Target="/ppt/presentation.xml" Id="R29d05e03e821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ce7b3071da4388"/>
  </p:sldMasterIdLst>
  <p:notesMasterIdLst>
    <p:notesMasterId xmlns:r="http://schemas.openxmlformats.org/officeDocument/2006/relationships" r:id="R9dfd6091f8a34b26"/>
  </p:notesMasterIdLst>
  <p:sldIdLst>
    <p:sldId xmlns:r="http://schemas.openxmlformats.org/officeDocument/2006/relationships" id="256" r:id="Rc106a990c2db46c1"/>
    <p:sldId xmlns:r="http://schemas.openxmlformats.org/officeDocument/2006/relationships" id="257" r:id="Rb47aad6eec994439"/>
    <p:sldId xmlns:r="http://schemas.openxmlformats.org/officeDocument/2006/relationships" id="258" r:id="Rbc57fb3ee32248c4"/>
    <p:sldId xmlns:r="http://schemas.openxmlformats.org/officeDocument/2006/relationships" id="259" r:id="Raf87fb737b97447a"/>
    <p:sldId xmlns:r="http://schemas.openxmlformats.org/officeDocument/2006/relationships" id="260" r:id="R0828d854162c4b81"/>
    <p:sldId xmlns:r="http://schemas.openxmlformats.org/officeDocument/2006/relationships" id="261" r:id="R430dfdcfb23e43f8"/>
    <p:sldId xmlns:r="http://schemas.openxmlformats.org/officeDocument/2006/relationships" id="262" r:id="R563bb5bd6b034fcd"/>
    <p:sldId xmlns:r="http://schemas.openxmlformats.org/officeDocument/2006/relationships" id="263" r:id="Rb9886c310e36435a"/>
    <p:sldId xmlns:r="http://schemas.openxmlformats.org/officeDocument/2006/relationships" id="264" r:id="Rc2266e14a4324dae"/>
    <p:sldId xmlns:r="http://schemas.openxmlformats.org/officeDocument/2006/relationships" id="265" r:id="R239b6dcd9fa34a5c"/>
    <p:sldId xmlns:r="http://schemas.openxmlformats.org/officeDocument/2006/relationships" id="266" r:id="R8c9bf16d3dfc48df"/>
    <p:sldId xmlns:r="http://schemas.openxmlformats.org/officeDocument/2006/relationships" id="267" r:id="R6b14903a428344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2d41af5eb54cbe" /><Relationship Type="http://schemas.openxmlformats.org/officeDocument/2006/relationships/slideMaster" Target="/ppt/slideMasters/slideMaster1.xml" Id="R4fce7b3071da4388" /><Relationship Type="http://schemas.openxmlformats.org/officeDocument/2006/relationships/notesMaster" Target="/ppt/notesMasters/notesMaster1.xml" Id="R9dfd6091f8a34b26" /><Relationship Type="http://schemas.openxmlformats.org/officeDocument/2006/relationships/presProps" Target="/ppt/presProps.xml" Id="Redb7a0e788f14332" /><Relationship Type="http://schemas.openxmlformats.org/officeDocument/2006/relationships/tableStyles" Target="/ppt/tableStyles.xml" Id="Ra8030233f958414f" /><Relationship Type="http://schemas.openxmlformats.org/officeDocument/2006/relationships/slide" Target="/ppt/slides/slide1.xml" Id="Rc106a990c2db46c1" /><Relationship Type="http://schemas.openxmlformats.org/officeDocument/2006/relationships/slide" Target="/ppt/slides/slide2.xml" Id="Rb47aad6eec994439" /><Relationship Type="http://schemas.openxmlformats.org/officeDocument/2006/relationships/slide" Target="/ppt/slides/slide3.xml" Id="Rbc57fb3ee32248c4" /><Relationship Type="http://schemas.openxmlformats.org/officeDocument/2006/relationships/slide" Target="/ppt/slides/slide4.xml" Id="Raf87fb737b97447a" /><Relationship Type="http://schemas.openxmlformats.org/officeDocument/2006/relationships/slide" Target="/ppt/slides/slide5.xml" Id="R0828d854162c4b81" /><Relationship Type="http://schemas.openxmlformats.org/officeDocument/2006/relationships/slide" Target="/ppt/slides/slide6.xml" Id="R430dfdcfb23e43f8" /><Relationship Type="http://schemas.openxmlformats.org/officeDocument/2006/relationships/slide" Target="/ppt/slides/slide7.xml" Id="R563bb5bd6b034fcd" /><Relationship Type="http://schemas.openxmlformats.org/officeDocument/2006/relationships/slide" Target="/ppt/slides/slide8.xml" Id="Rb9886c310e36435a" /><Relationship Type="http://schemas.openxmlformats.org/officeDocument/2006/relationships/slide" Target="/ppt/slides/slide9.xml" Id="Rc2266e14a4324dae" /><Relationship Type="http://schemas.openxmlformats.org/officeDocument/2006/relationships/slide" Target="/ppt/slides/slide10.xml" Id="R239b6dcd9fa34a5c" /><Relationship Type="http://schemas.openxmlformats.org/officeDocument/2006/relationships/slide" Target="/ppt/slides/slide11.xml" Id="R8c9bf16d3dfc48df" /><Relationship Type="http://schemas.openxmlformats.org/officeDocument/2006/relationships/slide" Target="/ppt/slides/slide12.xml" Id="R6b14903a428344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c44a5a1d654c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207a283854b95" /><Relationship Type="http://schemas.openxmlformats.org/officeDocument/2006/relationships/notesMaster" Target="/ppt/notesMasters/notesMaster1.xml" Id="R1bffc7fbe2f34b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c26fddcb87410b" /><Relationship Type="http://schemas.openxmlformats.org/officeDocument/2006/relationships/notesMaster" Target="/ppt/notesMasters/notesMaster1.xml" Id="Rfffbf3c0a7074a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80d274852c45ac" /><Relationship Type="http://schemas.openxmlformats.org/officeDocument/2006/relationships/notesMaster" Target="/ppt/notesMasters/notesMaster1.xml" Id="R7180af94c52447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4ed68b75334987" /><Relationship Type="http://schemas.openxmlformats.org/officeDocument/2006/relationships/notesMaster" Target="/ppt/notesMasters/notesMaster1.xml" Id="Rff3189ef0f6646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6f82a39f354f60" /><Relationship Type="http://schemas.openxmlformats.org/officeDocument/2006/relationships/notesMaster" Target="/ppt/notesMasters/notesMaster1.xml" Id="R7ee0704ecc3347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04983c3bd548a4" /><Relationship Type="http://schemas.openxmlformats.org/officeDocument/2006/relationships/notesMaster" Target="/ppt/notesMasters/notesMaster1.xml" Id="R8c93aa80a57f47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3ca41d7c7c4ae7" /><Relationship Type="http://schemas.openxmlformats.org/officeDocument/2006/relationships/notesMaster" Target="/ppt/notesMasters/notesMaster1.xml" Id="R4684ab4b79a840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bbd78d626f4671" /><Relationship Type="http://schemas.openxmlformats.org/officeDocument/2006/relationships/notesMaster" Target="/ppt/notesMasters/notesMaster1.xml" Id="R69b12456ef234f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a1971cd4ac442f" /><Relationship Type="http://schemas.openxmlformats.org/officeDocument/2006/relationships/notesMaster" Target="/ppt/notesMasters/notesMaster1.xml" Id="Rcd239935dcb34a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a968c186d7473c" /><Relationship Type="http://schemas.openxmlformats.org/officeDocument/2006/relationships/notesMaster" Target="/ppt/notesMasters/notesMaster1.xml" Id="R0bc89a2193ff4c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5698ae0d5a4aaa" /><Relationship Type="http://schemas.openxmlformats.org/officeDocument/2006/relationships/notesMaster" Target="/ppt/notesMasters/notesMaster1.xml" Id="Re3cefe8507c944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234f2252894ccc" /><Relationship Type="http://schemas.openxmlformats.org/officeDocument/2006/relationships/notesMaster" Target="/ppt/notesMasters/notesMaster1.xml" Id="Rad8e47af61c641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开场只说一句：这不是一个知识问答机器人，而是一套围绕真实具身智能任务组织的学习与验证 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https://www.goaihz.com/tracks?track=apps</a:t>
            </a:r>
          </a:p>
          <a:p xmlns:a="http://schemas.openxmlformats.org/drawingml/2006/main">
            <a:r>
              <a:t>- /Users/dengdengdeng/codex/game/README.md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从具体问题切入，不先讲功能。评审需要看到目标用户、痛点和真实教育任务。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/Users/dengdengdeng/codex/game/docs/PRD-具身拼图微信小程序-MVP.md</a:t>
            </a:r>
          </a:p>
          <a:p xmlns:a="http://schemas.openxmlformats.org/drawingml/2006/main">
            <a:r>
              <a:t>- https://www.goaihz.com/tracks?track=apps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逐步讲闭环，强调失败不是异常，而是回到指定缺口补学；通过也必须再做迁移任务。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/Users/dengdengdeng/codex/game/miniprogram/agent_docs/product_requirements.md</a:t>
            </a:r>
          </a:p>
          <a:p xmlns:a="http://schemas.openxmlformats.org/drawingml/2006/main">
            <a:r>
              <a:t>- /Users/dengdengdeng/codex/game/README.md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这是架构的关键：不是所有智能都交给大模型。三类 Agent 做动态判断，规则系统控制可审计的关键状态。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/Users/dengdengdeng/codex/game/AGENTS.md</a:t>
            </a:r>
          </a:p>
          <a:p xmlns:a="http://schemas.openxmlformats.org/drawingml/2006/main">
            <a:r>
              <a:t>- /Users/dengdengdeng/codex/game/miniprogram/core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现场可以直接打开 /agent。注意说明右侧显示的学习上下文，以及回答后的追问按钮。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/Users/dengdengdeng/codex/game/src/components/agent/web-agent-demo.tsx</a:t>
            </a:r>
          </a:p>
          <a:p xmlns:a="http://schemas.openxmlformats.org/drawingml/2006/main">
            <a:r>
              <a:t>- /Users/dengdengdeng/obsidian01/xbotics/GOAI-身知回响-初赛提交-V1.0/assets/agent-demo.png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评审若问如何评估，回答五维只是诊断结构；真正解锁仍读取任务证据，由规则判定。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/Users/dengdengdeng/codex/game/miniprogram/agent_docs/product_requirements.md</a:t>
            </a:r>
          </a:p>
          <a:p xmlns:a="http://schemas.openxmlformats.org/drawingml/2006/main">
            <a:r>
              <a:t>- /Users/dengdengdeng/codex/game/specs/wechat-mini-program-decisions.md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说明个人项目 Agent 是第二条能力，不要把现场演示压在文件选择上。若真机授权不稳定，展示生成结果与数据处理流程。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/Users/dengdengdeng/codex/game/specs/2026-08-04-personal-project-agent.md</a:t>
            </a:r>
          </a:p>
          <a:p xmlns:a="http://schemas.openxmlformats.org/drawingml/2006/main">
            <a:r>
              <a:t>- /Users/dengdengdeng/codex/game/miniprogram/agent_docs/product_requirements.md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把模型、Agent 架构、工具接口、知识库、数据和部署一次讲清。强调离线能力不是口号，Web Agent 界面可显示本地运行状态。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/Users/dengdengdeng/codex/game/package.json</a:t>
            </a:r>
          </a:p>
          <a:p xmlns:a="http://schemas.openxmlformats.org/drawingml/2006/main">
            <a:r>
              <a:t>- /Users/dengdengdeng/codex/game/docs/CloudBase-部署说明.md</a:t>
            </a:r>
          </a:p>
          <a:p xmlns:a="http://schemas.openxmlformats.org/drawingml/2006/main">
            <a:r>
              <a:t>- /Users/dengdengdeng/codex/game/scripts/build-robot-knowledge-base.py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这页主动说明范围，避免评审误解。当前完整的是传感器选择分支，其余节点是可扩展的信息架构。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/Users/dengdengdeng/codex/game/src/app/page.tsx</a:t>
            </a:r>
          </a:p>
          <a:p xmlns:a="http://schemas.openxmlformats.org/drawingml/2006/main">
            <a:r>
              <a:t>- /Users/dengdengdeng/obsidian01/xbotics/GOAI-身知回响-初赛提交-V1.0/assets/home-demo.png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测试命令为 npm test、npm run typecheck:mini、npm run lint。不要把工程测试说成学习成效实验。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/Users/dengdengdeng/codex/game/package.json</a:t>
            </a:r>
          </a:p>
          <a:p xmlns:a="http://schemas.openxmlformats.org/drawingml/2006/main">
            <a:r>
              <a:t>- /Users/dengdengdeng/codex/game/specs/release-2026-08-05.md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如被问到开放复用，回答将开放编排模板、诊断结构、规则、脱敏示例和测试；未授权资料、密钥与真实用户数据不开放。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https://www.goaihz.com/guide</a:t>
            </a:r>
          </a:p>
          <a:p xmlns:a="http://schemas.openxmlformats.org/drawingml/2006/main">
            <a:r>
              <a:t>- https://www.goaihz.com/terms</a:t>
            </a:r>
          </a:p>
          <a:p xmlns:a="http://schemas.openxmlformats.org/drawingml/2006/main">
            <a:r>
              <a:t>- /Users/dengdengdeng/codex/game/miniprogram/agent_docs/product_requirements.md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结尾回到作品价值，不再重复功能清单：让学习结果表现为能解释、能判断、能迁移的任务证据。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https://www.goaihz.com/tracks?track=apps</a:t>
            </a:r>
          </a:p>
          <a:p xmlns:a="http://schemas.openxmlformats.org/drawingml/2006/main">
            <a:r>
              <a:t>- /Users/dengdengdeng/codex/game/README.md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78683c89e4f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0744f5ecdb47c9" /><Relationship Type="http://schemas.openxmlformats.org/officeDocument/2006/relationships/slideLayout" Target="/ppt/slideLayouts/slideLayout1.xml" Id="R9be2199e54a54a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e2199e54a54a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206d2650649dc" /><Relationship Type="http://schemas.openxmlformats.org/officeDocument/2006/relationships/notesSlide" Target="/ppt/notesSlides/notesSlide1.xml" Id="Ra6a8369258da47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b716945794ac3" /><Relationship Type="http://schemas.openxmlformats.org/officeDocument/2006/relationships/notesSlide" Target="/ppt/notesSlides/notesSlide2.xml" Id="R73a058d2239f41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68e5d49854146" /><Relationship Type="http://schemas.openxmlformats.org/officeDocument/2006/relationships/notesSlide" Target="/ppt/notesSlides/notesSlide3.xml" Id="Rda22b84ea67d41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cf7d1b23f4b38" /><Relationship Type="http://schemas.openxmlformats.org/officeDocument/2006/relationships/notesSlide" Target="/ppt/notesSlides/notesSlide4.xml" Id="Ra732515a252343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7066150ea442e" /><Relationship Type="http://schemas.openxmlformats.org/officeDocument/2006/relationships/image" Target="/ppt/media/image.png" Id="Ra6ef01ef36ec4c92" /><Relationship Type="http://schemas.openxmlformats.org/officeDocument/2006/relationships/notesSlide" Target="/ppt/notesSlides/notesSlide5.xml" Id="Raedbfc5e648a4a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6118542cb4afb" /><Relationship Type="http://schemas.openxmlformats.org/officeDocument/2006/relationships/notesSlide" Target="/ppt/notesSlides/notesSlide6.xml" Id="Rde6bc9a7f5c343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b36ca5dca4d15" /><Relationship Type="http://schemas.openxmlformats.org/officeDocument/2006/relationships/notesSlide" Target="/ppt/notesSlides/notesSlide7.xml" Id="R53001508718741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b392f925e4c16" /><Relationship Type="http://schemas.openxmlformats.org/officeDocument/2006/relationships/notesSlide" Target="/ppt/notesSlides/notesSlide8.xml" Id="Rbe3885475db84c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64710ad5443b1" /><Relationship Type="http://schemas.openxmlformats.org/officeDocument/2006/relationships/image" Target="/ppt/media/image2.png" Id="R2cc0c5dbb8c24a56" /><Relationship Type="http://schemas.openxmlformats.org/officeDocument/2006/relationships/notesSlide" Target="/ppt/notesSlides/notesSlide9.xml" Id="R97e8dea0762440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d7b4689624e62" /><Relationship Type="http://schemas.openxmlformats.org/officeDocument/2006/relationships/notesSlide" Target="/ppt/notesSlides/notesSlide10.xml" Id="Ref2b3f1f9da845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6fb3ee70046ff" /><Relationship Type="http://schemas.openxmlformats.org/officeDocument/2006/relationships/notesSlide" Target="/ppt/notesSlides/notesSlide11.xml" Id="R6ef8d21bfbe346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33f9a3b5d428f" /><Relationship Type="http://schemas.openxmlformats.org/officeDocument/2006/relationships/notesSlide" Target="/ppt/notesSlides/notesSlide12.xml" Id="Re4ea5b39b35542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98217-452D-439A-AA27-FA637346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GOAI 世界人工智能开源大赛 · AI+教育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53542-3945-456D-A857-0E8F39F1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14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身知回响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36478-9570-49FB-BCEB-A222F75B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面向具身智能学习者的</a:t>
            </a:r>
          </a:p>
          <a:p xmlns:a="http://schemas.openxmlformats.org/drawingml/2006/main">
            <a:pPr algn="l">
              <a:defRPr sz="285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个性化学习与能力验证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6B378-A327-4E78-8F89-0E2B2CFC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D7D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7D7DD"/>
                </a:solidFill>
                <a:latin typeface="Arial Unicode MS"/>
                <a:ea typeface="Arial Unicode MS"/>
                <a:cs typeface="Arial Unicode MS"/>
              </a:rPr>
              <a:t>把“看过知识”变成“能解释、能判断、能迁移”的任务证据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1B175-B622-4C9A-B102-C25695DE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9112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C2E92-D551-4FB9-A12A-ED2F40CD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初赛方案 V1.0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C8890-D95B-4DF2-94F1-57C45C76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9112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5174D-92F9-48B3-BDDC-4020D454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可运行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68CAB-3E4C-4B96-A506-38AB603A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9112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FBBF1-6A05-4994-B3EF-CF9E1C82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2578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2026.08.13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C1F4C-4935-44AF-AD6E-24244586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47750"/>
            <a:ext cx="7429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4F89F-BF4B-4C52-A90E-63DA3CBF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7429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53426-D4B4-43DA-A4B6-8B5CC14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7429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227C5-E0E0-4D61-ACE6-01F030F3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33750"/>
            <a:ext cx="7429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30C0B-26C2-434F-BC54-7DC32834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7429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4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142D7-EE40-4F63-B77C-D06709EE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57750"/>
            <a:ext cx="7429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4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480A3-41F0-4C85-B7A4-FFAE8477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19062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具</a:t>
            </a:r>
          </a:p>
        </p:txBody>
      </p:sp>
    </p:spTree>
    <p:extLst>
      <p:ext uri="{BB962C8B-B14F-4D97-AF65-F5344CB8AC3E}">
        <p14:creationId xmlns:p14="http://schemas.microsoft.com/office/powerpoint/2010/main" val="1153002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F7B44F-93EC-4B61-88EE-B47F3FFA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GOAI · AI+教育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4D2B2-F4EF-4F5A-8D47-9B7D4F23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问题不是资料不够，而是学习没有落到产品判断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573BD-C03E-4C4D-89FA-665EFD59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287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首个用户与首个任务都刻意收窄，保证闭环可演示、可验证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4F24A-7C52-47AA-80CF-8C7D3911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E2A96-27BD-4481-9BD7-4393F574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3150B-D831-478A-8CAB-555134E8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334000" cy="3667125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23827-4E70-4C4A-B111-DB7F902D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目标用户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ADFA5-6908-4D66-A705-30B8F785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具身智能入门者</a:t>
            </a:r>
          </a:p>
          <a:p xmlns:a="http://schemas.openxmlformats.org/drawingml/2006/main">
            <a:pPr algn="l">
              <a:defRPr sz="24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机器人产品转岗者</a:t>
            </a:r>
          </a:p>
          <a:p xmlns:a="http://schemas.openxmlformats.org/drawingml/2006/main">
            <a:pPr algn="l">
              <a:defRPr sz="24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企业内部培训学员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CEEC7-392B-4F90-A3F6-AC0AB7F9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共同困境：看完课程和报告，仍说不清技术取舍与失效边界。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D2C50-9E34-49BE-A309-D6D4DA2D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5772150" cy="3667125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6D5B5-356E-4F3D-B94D-C40A6191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首个真实任务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FC8AB-07BB-4787-BB49-6C3DCEC5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仓储 AMR 为什么</a:t>
            </a:r>
          </a:p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不能只依赖相机？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125DB-9D24-4A15-86CE-DEA81231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用户需要选择传感器组合，说明光照、粉尘、反光、速度和成本条件下的取舍，并把判断迁移到夜间仓库场景。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5446F-2A2C-4DAA-A3C4-86E50D91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387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B8BC1-B651-472A-BE0B-CA55BAFF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054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真实取舍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44405-ED24-4939-865F-E334AB1F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387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37C74-F6EB-409F-88A4-693D464A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054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失效边界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A26EB-9118-4999-BA9E-AE3FE297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387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557D7F-EF85-4FFC-8B17-22227B13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054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迁移验证</a:t>
            </a:r>
          </a:p>
        </p:txBody>
      </p:sp>
    </p:spTree>
    <p:extLst>
      <p:ext uri="{BB962C8B-B14F-4D97-AF65-F5344CB8AC3E}">
        <p14:creationId xmlns:p14="http://schemas.microsoft.com/office/powerpoint/2010/main" val="9825368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A452B1-C71D-4D79-8DCA-CB38CE54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GOAI · AI+教育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EAD9D-47EC-473C-BB7B-D4EBFA26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一条完整任务闭环：从选点到迁移验证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618A8-8649-46D7-A7E8-E7F3D267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287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Agent 不替用户完成作业，而是推动用户产出可核验的学习证据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73BCE-350E-4F7B-8F3A-59074E81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C92FD-E59E-4A1E-9DD8-AB4181F8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58009-D7AC-4410-BB25-47C1B57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24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D7481-071A-4B33-8938-624B282A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88615-B645-46E9-B0D3-77771CAD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24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能力地图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A765E-65C7-484F-B997-4F9300D5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选择岗位能力节点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7EAE0-DC28-48D7-86B8-8C0659C9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00250"/>
            <a:ext cx="3524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243E1-791F-4EA4-BBC9-30CE69FD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52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7232A-967A-471C-801C-DD347901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124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微课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CBB2B-100B-48E3-B2E8-0BF81944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14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建立必要概念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83F44-D108-4A88-90EA-EEC89217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3524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124B1-2CA2-44BF-98EA-105425AB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FB2B4-6606-4D64-A56B-2EB3F111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24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伙伴追问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4E590-206B-44D9-9B2F-0AD208EE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暴露理解缺口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C7DA2-542D-404C-82AE-186F3E54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3524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182A7-B009-448D-8406-58CF1F38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B192F-ABE2-4303-B9C5-C9296AF1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真实挑战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84CAD-A797-4B44-9A44-C83EC170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004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做出产品取舍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66FD11-8763-4902-8799-754FD523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286125"/>
            <a:ext cx="3524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C6525-4654-4FCF-A694-5113CEDF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38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0E338-E8E5-4A08-B760-F720235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409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费曼复述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B75B4-B06F-43CD-B436-3EFE605C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004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用自己的话解释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79571-C664-43CA-A34B-002A51BD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86125"/>
            <a:ext cx="3524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664626-45E0-464C-ACE3-FC9E82F1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385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CC79B-1208-42C5-AF51-01D44070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五维诊断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15A41F-C5ED-4C88-8EB3-CE7243D3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004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定位证据不足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BB0B45-AD31-44AD-8308-BF7C7135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3524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F825F2-0AAF-48FA-B416-47CE45E6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E566E5-0B12-42D9-9851-1C514A6C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958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规则判定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028FCC-2FD9-4B13-B050-9CFCCCA6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86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决定补学或通过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DC5B71-7FE7-42AE-B82B-52BA6860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72000"/>
            <a:ext cx="3524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F0DC6D-24F9-4EED-88E4-FE07A283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244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72CAAF-F3B3-45DA-8522-2BEE4CCB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6958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迁移任务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8ACB96-EFEF-4D61-BFB0-C08B2100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086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更换环境再判断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21E6FD-3E49-47E0-BB04-52C5E00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3524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2FAF9B-162C-4AD7-940A-2838884A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FA80F5-26C2-4D4D-A93A-AC7C3FE2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958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能力点亮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BF5713-055C-40A2-8873-76EEFE43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86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保存可解释证据</a:t>
            </a:r>
          </a:p>
        </p:txBody>
      </p:sp>
    </p:spTree>
    <p:extLst>
      <p:ext uri="{BB962C8B-B14F-4D97-AF65-F5344CB8AC3E}">
        <p14:creationId xmlns:p14="http://schemas.microsoft.com/office/powerpoint/2010/main" val="67335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3C464-4227-42C7-81D0-A76ECECB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GOAI · AI+教育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781FB-7BCA-41EE-A82A-972ECA7F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三个 Agent 协同，一个规则系统守住可信边界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07CD3-BF98-4410-80E0-C6E793BD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287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Agent 负责理解上下文与决定下一步；确定性规则负责最终掌握状态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73670-3ECF-443F-A1AB-8ACFD996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B84C1-D59F-4B5A-955B-24A2AD7F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4EFFB-BC91-490C-BF96-5C98E03F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24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551B8-56EF-488B-A43F-96FE64AE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学习伙伴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62C17-9F4B-486A-B117-BCD5EEB7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304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输入：当前节点、进度、提问</a:t>
            </a:r>
          </a:p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工具：知识检索、上下文记忆</a:t>
            </a:r>
          </a:p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输出：回答、依据、下一问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93CBB-D19C-4C63-94E5-33BBECA0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0"/>
            <a:ext cx="3524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F0BEE-E67E-41B0-8DAD-8112D5E4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33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学习评估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BAE38-C534-49C5-9430-51F9E25B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05125"/>
            <a:ext cx="304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输入：方案、解释、案例证据</a:t>
            </a:r>
          </a:p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动作：五维诊断与缺口定位</a:t>
            </a:r>
          </a:p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输出：补学或迁移建议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2F7E1-E47C-4DD0-BF6C-A3BF3FC2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524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FBABA-457C-4978-BB75-81555967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336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个人项目学习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A8B70-2DB5-4A6A-8BD5-829F1F9E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05125"/>
            <a:ext cx="304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输入：用户主动导入的项目文件</a:t>
            </a:r>
          </a:p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动作：解析、归纳、问题生成</a:t>
            </a:r>
          </a:p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输出：图谱、目标、证据账本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48D79-89F7-4BB1-B85C-D0E45923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6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CC05E-40A6-4ED3-87BA-9D8A1655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确定性掌握门槛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A498F-C9D1-4276-9B56-2ABC2BE7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196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读取任务证据 → 检查必需条件 → 解锁 / 指定补学；模型无权直接把节点标记为“已掌握”。</a:t>
            </a:r>
          </a:p>
        </p:txBody>
      </p:sp>
    </p:spTree>
    <p:extLst>
      <p:ext uri="{BB962C8B-B14F-4D97-AF65-F5344CB8AC3E}">
        <p14:creationId xmlns:p14="http://schemas.microsoft.com/office/powerpoint/2010/main" val="13026278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73CBE-C410-42F0-916D-0B7B59E8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GOAI · AI+教育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84D30-17D3-4DE0-B1C9-DF11E2C7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学习伙伴 Agent：回答之后，必须推动下一步行动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B4D36-4155-4A8B-8A4D-25837040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287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上下文不是一段固定提示词，而是当前节点、学习进度与可引用知识依据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3C99B-CDA7-446E-BC82-5ADC938E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6F1FB-9E5D-468D-8779-27AB3064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f01ef36ec4c92"/>
          <a:srcRect xmlns:a="http://schemas.openxmlformats.org/drawingml/2006/main" l="0" t="9263" r="0" b="9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952625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824D8-9D20-40BD-AB54-50DA8D53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47875"/>
            <a:ext cx="38385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638EC-172C-4F2F-92E8-42AB4937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看见上下文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1AA05-8DD8-4413-A114-DAA580AE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当前为感知与传感器—激光雷达与测距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0CB27-D4FA-4F5A-91BC-C43ADB9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05175"/>
            <a:ext cx="38385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16A95-6A12-4A99-9896-69B5232D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956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检索与回答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C6D25-F7C3-40CA-A278-97204C37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解释方案取舍，并保留可展示依据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B3040-BC37-452B-97DB-DBEDD5B5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62475"/>
            <a:ext cx="38385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52AE8-5796-45D5-8DD6-52341C68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529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继续追问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EEDCB-88DD-4B7A-9F5B-9CD3D10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149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把用户引向真实仓储场景与挑战</a:t>
            </a:r>
          </a:p>
        </p:txBody>
      </p:sp>
    </p:spTree>
    <p:extLst>
      <p:ext uri="{BB962C8B-B14F-4D97-AF65-F5344CB8AC3E}">
        <p14:creationId xmlns:p14="http://schemas.microsoft.com/office/powerpoint/2010/main" val="712636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B6B1A-0FC2-4BE2-92DF-3F00E332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GOAI · AI+教育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B1839-21F0-4C93-AA84-987733B2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学习评估 Agent：诊断的是证据缺口，不是给一句总分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B3E30-E460-489A-BB52-0A52C5F0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287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一个“看起来正确”的答案，可能仍缺少场景、边界和迁移能力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6BB6F-EEFE-4460-970C-BBC42C77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64644-171D-4114-A501-E0591C5E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25D47-89E4-4451-B311-EBB3B4F0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47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477BA-57D5-41EE-98DC-C7B835BF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D081F-D2A4-478D-86DE-D5C98938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6C15A-559B-4F70-8F42-309E74A4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能否说清因果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316E3-5010-41A8-AB2A-773A6A68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095500"/>
            <a:ext cx="2047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ED4A7-286C-41CE-B77A-0299BF1D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86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5F588-1F7F-45DC-B586-70B59C93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628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FACBB-6204-4BCD-8654-FB2DFB3C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48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能否做取舍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70D14-E0BC-467D-9DED-F32CEF7C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047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051A3-9B8E-41C9-9D4E-5AB1F73F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65852-E29C-4DB4-BEE6-F9807EF8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28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B7E34-B75E-4CDB-B6CC-18C33099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能否引用案例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3E9F6-9661-487A-BF41-15E5BFB2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95500"/>
            <a:ext cx="2047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E70B9-63F6-4B19-AC45-D925474A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86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C5E77B-0B4E-4BAF-8E58-BE71F454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28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迁移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CF26C-09DC-46D0-AF83-DA8DE622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48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换场景仍成立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609D5-3199-4F6C-A46E-3B530270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95500"/>
            <a:ext cx="2047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7057D-F056-4AC3-8D6D-D17A3D50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86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66D2B-9FF6-4C2C-AF66-71F03DCE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28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A882D-BB69-43A3-8E94-AB23EBA6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48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能否指出失效边界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B8C44-48DC-4C58-AD50-F8DF02D4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13919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D6AF1E-5502-493A-9476-CAA555EF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示例：用户只回答“激光雷达更准”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917049-2F8D-4A2B-81B2-3B32971A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Agent 诊断：缺少准确性的条件、相机的语义优势、反光/玻璃等失效边界。</a:t>
            </a:r>
          </a:p>
          <a:p xmlns:a="http://schemas.openxmlformats.org/drawingml/2006/main">
            <a:pPr algn="l">
              <a:defRPr sz="15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下一步：补学多传感器融合 → 回到挑战 → 进入夜间仓库迁移任务。</a:t>
            </a:r>
          </a:p>
        </p:txBody>
      </p:sp>
    </p:spTree>
    <p:extLst>
      <p:ext uri="{BB962C8B-B14F-4D97-AF65-F5344CB8AC3E}">
        <p14:creationId xmlns:p14="http://schemas.microsoft.com/office/powerpoint/2010/main" val="16091098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A2D169-C833-4BA9-B9AF-C55AAFEF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GOAI · AI+教育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025E7-99C9-4F08-934E-DC629BDB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个人项目学习 Agent：把用户自己的材料变成学习任务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DC8A5-03BE-4FCC-B7BB-F91EF82A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287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从‘帮我总结文件’升级为项目图谱、关键问题与证据账本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CD2C8-4B72-4B14-891D-FFC99483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1B30C-AC8A-4647-B09D-B5F92E19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2DA71-F861-4011-8C10-8D291703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04787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45079-90EE-4729-AA83-56E129E6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A5EBC-6FCB-41BE-B2FA-D56AC9BD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336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导入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5F274-CA2D-4E84-B5A8-698001C6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PDF / DOCX</a:t>
            </a:r>
          </a:p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MD / 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FBB82-EF7D-458F-942C-E7A6AA69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908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AFA02-68FB-4D6E-8DC1-331D1DE4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90750"/>
            <a:ext cx="204787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06FD4-CFF8-445A-A9A6-B7D1BBC9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81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E4C5D-9B50-4305-ACA4-2184FDC5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336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45A70-E9C9-4309-B476-C7022357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授权与敏感</a:t>
            </a:r>
          </a:p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信息提示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5A81C-7501-4F5E-9BA4-7A5FD13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908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04413-16ED-47B7-9A72-A1DF919C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04787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DB385-30B8-4427-9905-CCDA32BC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555F0-778C-44E1-BDAF-81D5D2FE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336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D4F67-98D9-4283-950D-E66101D7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模型增强或</a:t>
            </a:r>
          </a:p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规则化降级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9BBAD-90D6-4D7A-9978-A3FC1D2B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908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89580-DD79-484F-B6F7-74AE923A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90750"/>
            <a:ext cx="204787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F8CB1-E7AA-47D1-A2F3-E4707F06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81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B715C-9FFD-4DD5-A351-46359F78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336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56D765-D12B-416E-8D95-9F9F0085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图谱 / 目标</a:t>
            </a:r>
          </a:p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问题 / 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B308A-1628-44B0-BC2C-FB9CB292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908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C5B50E-E6BA-4DCA-AA5A-55B8C4C0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204787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EF964A-86AD-4B5B-B47E-328F0EF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1F3BBC-F7D3-462E-9B09-EBFE312B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336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71693-8297-4568-88AE-6ED438F7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绑定学习节点</a:t>
            </a:r>
          </a:p>
          <a:p xmlns:a="http://schemas.openxmlformats.org/drawingml/2006/main">
            <a:pPr algn="l">
              <a:def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持续补证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D7BE36-D161-4A65-939D-61520DAA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6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6CCC23-B33C-4F1C-964D-A88CDFAF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隐私设计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1A0F73-4E63-4A15-95A1-A7D7A6F0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529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上传前确认 · 10 MB 上限 · 临时对象存储 · 成功或失败后删除 · 只保留学习计划与必要元数据</a:t>
            </a:r>
          </a:p>
        </p:txBody>
      </p:sp>
    </p:spTree>
    <p:extLst>
      <p:ext uri="{BB962C8B-B14F-4D97-AF65-F5344CB8AC3E}">
        <p14:creationId xmlns:p14="http://schemas.microsoft.com/office/powerpoint/2010/main" val="2351889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D5AF3-A27C-4D53-B14B-9F1318BC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GOAI · AI+教育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24F66-12EB-4954-B40B-ED8B7BC4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技术架构：端侧状态 + 云端工具 + 可降级模型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FE602-E53C-4736-96B7-4907DB5A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287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核心学习链路不把单一模型或云服务当作不可替代的依赖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16FBF-AA5B-4510-836D-69CE237D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AA283-AB85-4443-8F33-48D06A6C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D9872-3788-41B0-B428-B6F83AC0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24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ECC18-E924-4D1C-98C9-D8C2FDBD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622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交互与状态层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59837-95CE-4BDC-85A0-47EF8B4B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00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微信小程序</a:t>
            </a:r>
          </a:p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Next.js Web Demo</a:t>
            </a:r>
          </a:p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本地学习状态</a:t>
            </a:r>
          </a:p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确定性状态机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6C96E-6A4C-4E14-A8E8-E2E75484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0"/>
            <a:ext cx="3524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A1107-14A2-4C98-B558-14738279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Agent 与工具层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08159-A7ED-47BE-BE1D-2E10ACB0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0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学习伙伴</a:t>
            </a:r>
          </a:p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学习评估</a:t>
            </a:r>
          </a:p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个人项目学习</a:t>
            </a:r>
          </a:p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知识检索 / 文件解析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830DA-4157-4052-9C5D-1267BB30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524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D6EC7-C20D-4036-BC1D-8366F082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622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服务与知识层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0236C-FECF-493C-8958-037176B8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0037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CloudBase 云函数</a:t>
            </a:r>
          </a:p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可选 DeepSeek</a:t>
            </a:r>
          </a:p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125 份 DOCX</a:t>
            </a:r>
          </a:p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485 个检索分块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4E03D-7437-4535-A72D-0AC7698D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失败策略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B8775-F7B8-4C61-A43E-9221B15B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05425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模型超时 / 无 Key / 检索失败 → 明确标注降级 → 保留课程、挑战、规则判定与本地知识 Agent。</a:t>
            </a:r>
          </a:p>
        </p:txBody>
      </p:sp>
    </p:spTree>
    <p:extLst>
      <p:ext uri="{BB962C8B-B14F-4D97-AF65-F5344CB8AC3E}">
        <p14:creationId xmlns:p14="http://schemas.microsoft.com/office/powerpoint/2010/main" val="3703602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35CF2-4A33-4EE0-B817-B12EA95E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GOAI · AI+教育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AC615-02FA-476A-ACD7-C440FD8A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当前 Demo：能力地图与学习伙伴均可直接运行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B5C02-70A7-4FDD-A695-69982029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287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真实界面证据来自本地运行版本；初赛重点展示一条完整内容分支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96E2A-B093-4DD9-8A44-2C0E70CC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56F07-7844-448A-9371-3B8C8037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0c5dbb8c24a56"/>
          <a:srcRect xmlns:a="http://schemas.openxmlformats.org/drawingml/2006/main" l="0" t="11300" r="0" b="11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952625"/>
            <a:ext cx="7620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383ED-2DDF-4D7D-B408-76461844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3505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C2BCD-B6F6-4DA1-991B-2A5E198F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09800"/>
            <a:ext cx="85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A4A87-4BFA-464D-9318-ECEC26A3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52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能力领域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E67D1-9325-4EB9-AAA5-270429F4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48025"/>
            <a:ext cx="3505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A662B-E49C-4C27-812E-3404210D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09950"/>
            <a:ext cx="85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BE1D1-9E01-4294-B9BA-C5E6F21E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528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核心拼图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13C02-A510-465F-93A1-0A3B9DAA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48175"/>
            <a:ext cx="3505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50D34-91C2-4D6E-8208-03C76882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10100"/>
            <a:ext cx="85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7A6FD-65EC-4A02-9DDF-0EDB5EA8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52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重点闭环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BD913-FFFB-47EA-8985-D78AE389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10250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说明：地图范围代表产品结构，不代表 36 个节点均已完成内容化。</a:t>
            </a:r>
          </a:p>
        </p:txBody>
      </p:sp>
    </p:spTree>
    <p:extLst>
      <p:ext uri="{BB962C8B-B14F-4D97-AF65-F5344CB8AC3E}">
        <p14:creationId xmlns:p14="http://schemas.microsoft.com/office/powerpoint/2010/main" val="10185316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63AEA-9207-4613-A14A-32B2CC42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GOAI · AI+教育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A7ADC-ABE3-4A0E-94F6-D3F152C9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工程验证：可运行、可检查，也明确剩余风险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970E0-E003-42A8-B671-B17F95A5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287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截至 2026-08-13 的本机验证结果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76A45-F46D-4759-899C-A5A131B3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D66CB-3DCA-48F2-9368-95CA8724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A97EA-B369-4EB9-9D3E-EF648AED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63961-674C-4193-BBA0-7BE446A7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C5CB8-F668-4AA2-9B84-9D55C673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测试文件全部通过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A62A5-79C6-4E79-BC2E-3335BEAE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48290-6963-419E-BF6F-0F251FC3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4F2CD-A6B8-44FD-A643-824D96F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956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自动化测试通过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04FAF-290C-45DB-BCF3-19A79E8F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524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6B226-8403-43CE-B788-C97CEA93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2FE50-BF31-4357-A74C-07A0DF25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静态检查通过</a:t>
            </a:r>
          </a:p>
          <a:p xmlns:a="http://schemas.openxmlformats.org/drawingml/2006/main">
            <a:pPr algn="l">
              <a:def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TypeScript + ESLint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14645-E03F-42C5-8FE5-67D20DB1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113919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E700C-1AA1-410A-B027-58D03068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提交前仍需完成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239DB-15B8-442E-8B75-8C5EF703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14875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真机文件选择 smoke test · 体验版完整链路复测 · 知识资料授权范围最终确认</a:t>
            </a:r>
          </a:p>
        </p:txBody>
      </p:sp>
    </p:spTree>
    <p:extLst>
      <p:ext uri="{BB962C8B-B14F-4D97-AF65-F5344CB8AC3E}">
        <p14:creationId xmlns:p14="http://schemas.microsoft.com/office/powerpoint/2010/main" val="7149178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C6ED1-4594-41B5-956E-B95E54E9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GOAI · AI+教育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66E45-4A76-46D7-8D55-139ED930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1614"/>
                </a:solidFill>
                <a:latin typeface="Arial Unicode MS"/>
                <a:ea typeface="Arial Unicode MS"/>
                <a:cs typeface="Arial Unicode MS"/>
              </a:rPr>
              <a:t>合规边界：数据最小化，关键状态可审计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36851-1EBA-4141-8500-DFD3CC90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287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教育 Agent 提供学习辅助与诊断建议，不替代正式考试评分、职业认证或设备安全决策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82912-C8E8-4547-BBFE-025E0859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82FEC-AF8D-4872-92DE-468124BF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E64BF-1DF1-4DA6-BB39-98ADAA79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476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11A9F-04BE-4A8D-B4C3-71951DB6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数据授权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A4EDF-F01E-49AE-8DE7-C340FC17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24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未确认再分发权的知识原文与完整索引不进入公开包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7FAA1-6369-482F-8FD0-62864BFB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5476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DEC68-A4FD-479C-9AD0-0A812F50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324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隐私保护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8E698-0CBC-413E-BE03-A900AA68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24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默认不采集实名敏感信息；项目文件临时处理后删除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A39CB-F587-49D8-99FD-61AFD639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5476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5FE36-CD9D-4C12-96AA-5B944105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909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模型安全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C9572-A823-4913-B926-479EACF4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910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密钥仅服务端保存；失败时明确降级，不伪造来源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3878A-299A-4B8D-918D-D79DA61E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62375"/>
            <a:ext cx="547687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DF4EB"/>
          </a:solidFill>
          <a:ln xmlns:a="http://schemas.openxmlformats.org/drawingml/2006/main" w="9525">
            <a:solidFill>
              <a:srgbClr val="D7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B679E6-104A-4DB8-BBEA-EF00E348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909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46C58"/>
                </a:solidFill>
                <a:latin typeface="Arial Unicode MS"/>
                <a:ea typeface="Arial Unicode MS"/>
                <a:cs typeface="Arial Unicode MS"/>
              </a:rPr>
              <a:t>教育边界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A6A6F-6CE3-49B9-AB89-170566DD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3910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F6D68"/>
                </a:solidFill>
                <a:latin typeface="Arial Unicode MS"/>
                <a:ea typeface="Arial Unicode MS"/>
                <a:cs typeface="Arial Unicode MS"/>
              </a:rPr>
              <a:t>模型输出为学习建议；掌握状态由规则与证据决定</a:t>
            </a:r>
          </a:p>
        </p:txBody>
      </p:sp>
    </p:spTree>
    <p:extLst>
      <p:ext uri="{BB962C8B-B14F-4D97-AF65-F5344CB8AC3E}">
        <p14:creationId xmlns:p14="http://schemas.microsoft.com/office/powerpoint/2010/main" val="1551081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14E96-FA82-4351-BA42-30D9A3C2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857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从一条闭环开始，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把具身智能知识变成可验证能力。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55F1D-5E78-4F24-A29F-E72A2706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DB2F1-7064-48A5-B864-A74CF94E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38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现在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CABC6-0054-44DB-A8C2-2CC4B62A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147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完成传感器选择闭环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Web / 小程序 Demo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三类 Agent 与降级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CE877-1A37-471E-8742-568F6873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0037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FD87A-23BB-43D1-B4F0-0CBE7497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复赛前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CA9F5-FCBC-49FB-BB12-40C64E54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补齐真机与体验版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扩展 2—3 个任务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增加带教诊断视图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2A854-14F2-4D2C-AC2F-5E8A67E5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0375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5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50B51-DDAF-4DA4-961E-47891869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38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75DDF0"/>
                </a:solidFill>
                <a:latin typeface="Arial Unicode MS"/>
                <a:ea typeface="Arial Unicode MS"/>
                <a:cs typeface="Arial Unicode MS"/>
              </a:rPr>
              <a:t>决赛前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62A3A-19C1-4A6B-8737-D7A861A4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147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匿名成效对照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开放任务模板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发布示例数据与文档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DECE4-AC01-4E33-92AE-17DC3752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91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DB6B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9DB6BE"/>
                </a:solidFill>
                <a:latin typeface="Arial Unicode MS"/>
                <a:ea typeface="Arial Unicode MS"/>
                <a:cs typeface="Arial Unicode MS"/>
              </a:rPr>
              <a:t>身知回响 · GOAI AI+教育初赛方案 V1.0</a:t>
            </a:r>
          </a:p>
        </p:txBody>
      </p:sp>
    </p:spTree>
    <p:extLst>
      <p:ext uri="{BB962C8B-B14F-4D97-AF65-F5344CB8AC3E}">
        <p14:creationId xmlns:p14="http://schemas.microsoft.com/office/powerpoint/2010/main" val="1010465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2026-08-13T13:43:35.7040000Z</dcterms:created>
  <dcterms:modified xsi:type="dcterms:W3CDTF">2026-08-13T13:43:35.7040000Z</dcterms:modified>
</coreProperties>
</file>